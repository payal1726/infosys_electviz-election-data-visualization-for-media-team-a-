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9" r:id="rId9"/>
    <p:sldId id="262" r:id="rId10"/>
    <p:sldId id="268" r:id="rId11"/>
    <p:sldId id="263" r:id="rId12"/>
    <p:sldId id="272" r:id="rId13"/>
    <p:sldId id="264" r:id="rId14"/>
    <p:sldId id="265" r:id="rId15"/>
    <p:sldId id="267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F14B22-9FD7-4462-83D6-67514217E056}" v="5" dt="2026-03-02T11:15:16.9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 varScale="1">
        <p:scale>
          <a:sx n="93" d="100"/>
          <a:sy n="93" d="100"/>
        </p:scale>
        <p:origin x="1084" y="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maridivyasree225@outlook.com" userId="d0696f0097534644" providerId="LiveId" clId="{B8D491AF-0E78-4CDF-8A47-0696D9F6A13D}"/>
    <pc:docChg chg="delSld">
      <pc:chgData name="kummaridivyasree225@outlook.com" userId="d0696f0097534644" providerId="LiveId" clId="{B8D491AF-0E78-4CDF-8A47-0696D9F6A13D}" dt="2026-03-02T12:22:05.092" v="0" actId="47"/>
      <pc:docMkLst>
        <pc:docMk/>
      </pc:docMkLst>
      <pc:sldChg chg="del">
        <pc:chgData name="kummaridivyasree225@outlook.com" userId="d0696f0097534644" providerId="LiveId" clId="{B8D491AF-0E78-4CDF-8A47-0696D9F6A13D}" dt="2026-03-02T12:22:05.092" v="0" actId="47"/>
        <pc:sldMkLst>
          <pc:docMk/>
          <pc:sldMk cId="1755921300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Payal1726/Infosys_ElectViz-Election-Data-Visualization-for-Media-Team-A-" TargetMode="Externa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FEB737-ACF7-4BC0-E896-B8F3A8BE7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5356" y="2025068"/>
            <a:ext cx="5933287" cy="19400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</a:pPr>
            <a:r>
              <a:rPr lang="en-US" sz="3600" b="1" dirty="0" err="1"/>
              <a:t>Electviz</a:t>
            </a:r>
            <a:r>
              <a:rPr lang="en-US" sz="3600" b="1" dirty="0"/>
              <a:t>: Election Data Visualization for Media</a:t>
            </a:r>
            <a:endParaRPr lang="en-US" sz="3600" b="1" dirty="0">
              <a:ea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128F93-A7E0-A793-63FC-F490AD7186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06984" y="-3790"/>
            <a:ext cx="1634468" cy="16344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787A7B-CC3D-7464-0D47-0B638285A6FE}"/>
              </a:ext>
            </a:extLst>
          </p:cNvPr>
          <p:cNvSpPr txBox="1"/>
          <p:nvPr/>
        </p:nvSpPr>
        <p:spPr>
          <a:xfrm>
            <a:off x="6187669" y="4359466"/>
            <a:ext cx="2653823" cy="20005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b="1" u="sng"/>
              <a:t>PRESENTED BY TEAM A</a:t>
            </a:r>
            <a:endParaRPr lang="en-IN" b="1" u="sng">
              <a:ea typeface="Calibri"/>
              <a:cs typeface="Calibri"/>
            </a:endParaRPr>
          </a:p>
          <a:p>
            <a:pPr algn="ctr"/>
            <a:r>
              <a:rPr lang="en-IN"/>
              <a:t>Payal Shinde</a:t>
            </a:r>
            <a:br>
              <a:rPr lang="en-IN">
                <a:ea typeface="Calibri"/>
                <a:cs typeface="Calibri"/>
              </a:rPr>
            </a:br>
            <a:r>
              <a:rPr lang="en-IN"/>
              <a:t>Mohammad Saad</a:t>
            </a:r>
            <a:endParaRPr lang="en-IN">
              <a:ea typeface="Calibri"/>
              <a:cs typeface="Calibri"/>
            </a:endParaRPr>
          </a:p>
          <a:p>
            <a:pPr algn="ctr"/>
            <a:r>
              <a:rPr lang="en-IN">
                <a:ea typeface="Calibri"/>
                <a:cs typeface="Calibri"/>
              </a:rPr>
              <a:t>Jyothi Reddy</a:t>
            </a:r>
          </a:p>
          <a:p>
            <a:pPr algn="ctr"/>
            <a:r>
              <a:rPr lang="en-IN">
                <a:ea typeface="Calibri"/>
                <a:cs typeface="Calibri"/>
              </a:rPr>
              <a:t>Gowtham Mani</a:t>
            </a:r>
          </a:p>
          <a:p>
            <a:pPr algn="ctr"/>
            <a:r>
              <a:rPr lang="en-IN"/>
              <a:t>Kumari Divya Sree</a:t>
            </a:r>
            <a:br>
              <a:rPr lang="en-IN">
                <a:ea typeface="Calibri"/>
                <a:cs typeface="Calibri"/>
              </a:rPr>
            </a:br>
            <a:endParaRPr lang="en-IN" sz="1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BF4BA8-AEDE-852F-3332-8CEF7604391E}"/>
              </a:ext>
            </a:extLst>
          </p:cNvPr>
          <p:cNvSpPr txBox="1"/>
          <p:nvPr/>
        </p:nvSpPr>
        <p:spPr>
          <a:xfrm>
            <a:off x="623044" y="4359466"/>
            <a:ext cx="371838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>
                <a:ea typeface="Calibri"/>
                <a:cs typeface="Calibri"/>
              </a:rPr>
              <a:t>Github:</a:t>
            </a:r>
            <a:r>
              <a:rPr lang="en-US" dirty="0" err="1">
                <a:ea typeface="+mn-lt"/>
                <a:cs typeface="+mn-lt"/>
                <a:hlinkClick r:id="rId5"/>
              </a:rPr>
              <a:t>https</a:t>
            </a:r>
            <a:r>
              <a:rPr lang="en-US" dirty="0">
                <a:ea typeface="+mn-lt"/>
                <a:cs typeface="+mn-lt"/>
                <a:hlinkClick r:id="rId5"/>
              </a:rPr>
              <a:t>://github.com/Payal1726/</a:t>
            </a:r>
            <a:r>
              <a:rPr lang="en-US" dirty="0" err="1">
                <a:ea typeface="+mn-lt"/>
                <a:cs typeface="+mn-lt"/>
                <a:hlinkClick r:id="rId5"/>
              </a:rPr>
              <a:t>Infosys_ElectViz</a:t>
            </a:r>
            <a:r>
              <a:rPr lang="en-US" dirty="0">
                <a:ea typeface="+mn-lt"/>
                <a:cs typeface="+mn-lt"/>
                <a:hlinkClick r:id="rId5"/>
              </a:rPr>
              <a:t>-Election-Data-Visualization-for-Media-Team-A-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B18BA8-489F-FD8D-4F7F-22F65EEF8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1469" y="318146"/>
            <a:ext cx="4541062" cy="571990"/>
          </a:xfrm>
        </p:spPr>
        <p:txBody>
          <a:bodyPr>
            <a:normAutofit fontScale="90000"/>
          </a:bodyPr>
          <a:lstStyle/>
          <a:p>
            <a:r>
              <a:rPr b="1" dirty="0"/>
              <a:t>Problem Statement</a:t>
            </a:r>
            <a:endParaRPr lang="en-US" b="1" dirty="0">
              <a:ea typeface="Calibri"/>
              <a:cs typeface="Calibri"/>
            </a:endParaRPr>
          </a:p>
        </p:txBody>
      </p:sp>
      <p:pic>
        <p:nvPicPr>
          <p:cNvPr id="7" name="Picture 6" descr="A close-up of a logo&#10;&#10;AI-generated content may be incorrect.">
            <a:extLst>
              <a:ext uri="{FF2B5EF4-FFF2-40B4-BE49-F238E27FC236}">
                <a16:creationId xmlns:a16="http://schemas.microsoft.com/office/drawing/2014/main" id="{7F31C1B1-D777-2D31-042F-CB51815D68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04169" y="5422"/>
            <a:ext cx="1343116" cy="11974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5667BB-B3DA-E8F0-BB25-21CE38C86F6B}"/>
              </a:ext>
            </a:extLst>
          </p:cNvPr>
          <p:cNvSpPr txBox="1"/>
          <p:nvPr/>
        </p:nvSpPr>
        <p:spPr>
          <a:xfrm>
            <a:off x="807835" y="1351508"/>
            <a:ext cx="752833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During elections, media organizations operate in a fast-paced and high-pressure environment where timely and accurate information is critical. Election data is vast, complex, and collected from multiple sources, making it challenging to organize, analyze, and present in a meaningful way. Without a structured and interactive system, understanding trends such as vote share, turnout patterns, party performance, and constituency-level results becomes difficult. Therefore, there is a need for a centralized and dynamic dashboard solution that transforms raw election data into clear, insightful visual reports, enabling journalists and editorial teams to deliver precise, data-driven coverage to the public.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4B36E5-43AC-0959-11A3-882B325E1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/>
              <a:t>Project Objectives</a:t>
            </a:r>
            <a:endParaRPr lang="en-US" sz="4000" b="1" dirty="0">
              <a:ea typeface="Calibri"/>
              <a:cs typeface="Calibri"/>
            </a:endParaRPr>
          </a:p>
        </p:txBody>
      </p:sp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D44CA754-DE19-6288-F3AB-7B015B68EC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04169" y="5422"/>
            <a:ext cx="1343116" cy="11974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B4D23-06D8-BEB4-6B12-2964DC124EE1}"/>
              </a:ext>
            </a:extLst>
          </p:cNvPr>
          <p:cNvSpPr txBox="1"/>
          <p:nvPr/>
        </p:nvSpPr>
        <p:spPr>
          <a:xfrm>
            <a:off x="621345" y="1905506"/>
            <a:ext cx="790131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ea typeface="Segoe UI"/>
                <a:cs typeface="Segoe UI"/>
              </a:rPr>
              <a:t>Integrate public election datasets​.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ea typeface="Segoe UI"/>
                <a:cs typeface="Segoe UI"/>
              </a:rPr>
              <a:t>Enable real-time result tracking.​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ea typeface="Segoe UI"/>
                <a:cs typeface="Segoe UI"/>
              </a:rPr>
              <a:t>Provide vote share and turnout analysis.​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ea typeface="Segoe UI"/>
                <a:cs typeface="Segoe UI"/>
              </a:rPr>
              <a:t>Support party and candidate performance evaluation​.</a:t>
            </a:r>
            <a:endParaRPr lang="en-US" sz="32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ea typeface="Segoe UI"/>
                <a:cs typeface="Segoe UI"/>
              </a:rPr>
              <a:t>Deliver broadcast-ready visual dashboards​.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5A04BF-CE8D-C558-8E09-6A563DA67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/>
              <a:t>Key Outcomes</a:t>
            </a:r>
          </a:p>
        </p:txBody>
      </p:sp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B387E03C-BFB3-8C18-CD5E-0C37FF918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04169" y="5422"/>
            <a:ext cx="1343116" cy="11974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A4FCFE-D1E8-7D8E-3B5C-F173B2DCE233}"/>
              </a:ext>
            </a:extLst>
          </p:cNvPr>
          <p:cNvSpPr txBox="1"/>
          <p:nvPr/>
        </p:nvSpPr>
        <p:spPr>
          <a:xfrm>
            <a:off x="1036434" y="1443841"/>
            <a:ext cx="707113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600" dirty="0">
                <a:ea typeface="Segoe UI"/>
                <a:cs typeface="Segoe UI"/>
              </a:rPr>
              <a:t>Unified election data (state &amp; national levels)​.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600" dirty="0">
                <a:ea typeface="Segoe UI"/>
                <a:cs typeface="Segoe UI"/>
              </a:rPr>
              <a:t>Real-time election result tracking​.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600" dirty="0">
                <a:ea typeface="Segoe UI"/>
                <a:cs typeface="Segoe UI"/>
              </a:rPr>
              <a:t>Party-wise &amp; candidate-wise dashboards​.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600" dirty="0">
                <a:ea typeface="Segoe UI"/>
                <a:cs typeface="Segoe UI"/>
              </a:rPr>
              <a:t>Geographic mapping of results​.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600" dirty="0">
                <a:ea typeface="Segoe UI"/>
                <a:cs typeface="Segoe UI"/>
              </a:rPr>
              <a:t>Scalable model for future election.</a:t>
            </a:r>
            <a:endParaRPr lang="en-IN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9982C9-73C5-A78F-FA7E-58A0D2643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0029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Module 1 – Data Integration &amp; Modeling</a:t>
            </a:r>
            <a:endParaRPr lang="en-US" b="1" dirty="0">
              <a:ea typeface="Calibri"/>
              <a:cs typeface="Calibri"/>
            </a:endParaRPr>
          </a:p>
        </p:txBody>
      </p:sp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A5E9FFEF-66CE-2CAC-5950-C39B4D934F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04169" y="5422"/>
            <a:ext cx="1343116" cy="11974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527693-EB8C-8ABD-E6DB-D1C4F01CEF65}"/>
              </a:ext>
            </a:extLst>
          </p:cNvPr>
          <p:cNvSpPr txBox="1"/>
          <p:nvPr/>
        </p:nvSpPr>
        <p:spPr>
          <a:xfrm>
            <a:off x="795803" y="2098136"/>
            <a:ext cx="7552394" cy="3672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ea typeface="Segoe UI"/>
                <a:cs typeface="Segoe UI"/>
              </a:rPr>
              <a:t>Imported data from CSV, Excel.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ea typeface="Segoe UI"/>
                <a:cs typeface="Segoe UI"/>
              </a:rPr>
              <a:t>Cleaned &amp; normalized constituency and candidate data​.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ea typeface="Segoe UI"/>
                <a:cs typeface="Segoe UI"/>
              </a:rPr>
              <a:t>Created Star Schema model​.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err="1">
                <a:ea typeface="Segoe UI"/>
                <a:cs typeface="Segoe UI"/>
              </a:rPr>
              <a:t>Fact_ElectionResults</a:t>
            </a:r>
            <a:r>
              <a:rPr lang="en-US" sz="3200" dirty="0">
                <a:ea typeface="Segoe UI"/>
                <a:cs typeface="Segoe UI"/>
              </a:rPr>
              <a:t> &amp; Dimension tables​.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ea typeface="Segoe UI"/>
                <a:cs typeface="Segoe UI"/>
              </a:rPr>
              <a:t>Established relationships for accurate reporting​.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0D3B18-4D58-EC0A-49B2-FF65BBD24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24"/>
            <a:ext cx="9144000" cy="6858000"/>
          </a:xfrm>
          <a:prstGeom prst="rect">
            <a:avLst/>
          </a:prstGeom>
        </p:spPr>
      </p:pic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D71BBC67-6655-B248-5AD2-9435120392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22" t="25478" r="37206" b="7862"/>
          <a:stretch>
            <a:fillRect/>
          </a:stretch>
        </p:blipFill>
        <p:spPr>
          <a:xfrm>
            <a:off x="1051514" y="1352244"/>
            <a:ext cx="7026879" cy="46929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50A008-14A2-D0F6-979B-8DB7C6652F85}"/>
              </a:ext>
            </a:extLst>
          </p:cNvPr>
          <p:cNvSpPr txBox="1"/>
          <p:nvPr/>
        </p:nvSpPr>
        <p:spPr>
          <a:xfrm>
            <a:off x="1058560" y="327957"/>
            <a:ext cx="7019833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ea typeface="Calibri"/>
                <a:cs typeface="Calibri"/>
              </a:rPr>
              <a:t>Data Integration &amp;Modeling</a:t>
            </a:r>
            <a:endParaRPr lang="en-US" sz="4000" dirty="0">
              <a:ea typeface="Calibri"/>
              <a:cs typeface="Calibri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  <p:pic>
        <p:nvPicPr>
          <p:cNvPr id="8" name="Picture 7" descr="A close-up of a logo&#10;&#10;AI-generated content may be incorrect.">
            <a:extLst>
              <a:ext uri="{FF2B5EF4-FFF2-40B4-BE49-F238E27FC236}">
                <a16:creationId xmlns:a16="http://schemas.microsoft.com/office/drawing/2014/main" id="{DF28B600-FD9B-352B-B474-330955D54E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04169" y="5422"/>
            <a:ext cx="1343116" cy="119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320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0FF47E-3292-90A0-07E9-2FE748994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422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/>
              <a:t>Module 2 – </a:t>
            </a:r>
            <a:r>
              <a:rPr lang="en-US" b="1"/>
              <a:t>Historical Trends Dashboard</a:t>
            </a:r>
            <a:endParaRPr lang="en-US" b="1">
              <a:ea typeface="Calibri"/>
              <a:cs typeface="Calibri"/>
            </a:endParaRPr>
          </a:p>
        </p:txBody>
      </p:sp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AA07D5AA-6263-2C4B-F733-D07DEBADE4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04169" y="5422"/>
            <a:ext cx="1343116" cy="11974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8D4914-0466-3EB0-5EE4-1D079C062C6C}"/>
              </a:ext>
            </a:extLst>
          </p:cNvPr>
          <p:cNvSpPr txBox="1"/>
          <p:nvPr/>
        </p:nvSpPr>
        <p:spPr>
          <a:xfrm>
            <a:off x="372978" y="2151727"/>
            <a:ext cx="839804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Visualized vote share &amp; turnout across years.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Line charts &amp; area charts for party trend analysis.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Identified swing constituencies.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Enabled filters (year, region, party).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orange and green lines">
            <a:extLst>
              <a:ext uri="{FF2B5EF4-FFF2-40B4-BE49-F238E27FC236}">
                <a16:creationId xmlns:a16="http://schemas.microsoft.com/office/drawing/2014/main" id="{141EBBEC-36A9-6DBD-432A-17F912FA4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7AFC32-EA8F-85C6-339A-EED0EE010476}"/>
              </a:ext>
            </a:extLst>
          </p:cNvPr>
          <p:cNvSpPr txBox="1"/>
          <p:nvPr/>
        </p:nvSpPr>
        <p:spPr>
          <a:xfrm>
            <a:off x="770640" y="196162"/>
            <a:ext cx="7762451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ea typeface="Calibri"/>
                <a:cs typeface="Calibri"/>
              </a:rPr>
              <a:t>Historical Trends Dashboard</a:t>
            </a:r>
            <a:endParaRPr lang="en-US" sz="4000" dirty="0">
              <a:ea typeface="Calibri"/>
              <a:cs typeface="Calibri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  <p:pic>
        <p:nvPicPr>
          <p:cNvPr id="8" name="Picture 7" descr="A close-up of a logo&#10;&#10;AI-generated content may be incorrect.">
            <a:extLst>
              <a:ext uri="{FF2B5EF4-FFF2-40B4-BE49-F238E27FC236}">
                <a16:creationId xmlns:a16="http://schemas.microsoft.com/office/drawing/2014/main" id="{89130F58-A2F4-F18B-E080-79BB65C163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04169" y="5422"/>
            <a:ext cx="1343116" cy="11974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EC457D-E5CE-1542-2225-63599B1E9C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968" y="1101214"/>
            <a:ext cx="8563897" cy="480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709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971046-E4C0-052B-F252-523FF54DB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/>
              <a:t>Module 3 – Real-Time Results Dashboard</a:t>
            </a:r>
            <a:endParaRPr lang="en-US" b="1" dirty="0">
              <a:ea typeface="Calibri"/>
              <a:cs typeface="Calibri"/>
            </a:endParaRPr>
          </a:p>
        </p:txBody>
      </p:sp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FE89B441-3C8C-7CCA-6D2C-071E39349C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04169" y="5422"/>
            <a:ext cx="1343116" cy="11974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5C84DB-07F2-BAF6-BE0E-BCF0DC722CC2}"/>
              </a:ext>
            </a:extLst>
          </p:cNvPr>
          <p:cNvSpPr txBox="1"/>
          <p:nvPr/>
        </p:nvSpPr>
        <p:spPr>
          <a:xfrm>
            <a:off x="856001" y="1997839"/>
            <a:ext cx="74319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ea typeface="Segoe UI"/>
                <a:cs typeface="Segoe UI"/>
              </a:rPr>
              <a:t>Vote % bar graphs &amp; seat indicators​.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ea typeface="Segoe UI"/>
                <a:cs typeface="Segoe UI"/>
              </a:rPr>
              <a:t>Live result dashboards.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ea typeface="Segoe UI"/>
                <a:cs typeface="Segoe UI"/>
              </a:rPr>
              <a:t>Interactive filters (region, party, candidate ,year).​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ea typeface="Segoe UI"/>
                <a:cs typeface="Segoe UI"/>
              </a:rPr>
              <a:t>Constituency-level drill-down​.</a:t>
            </a:r>
            <a:endParaRPr lang="en-IN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orange and green lines">
            <a:extLst>
              <a:ext uri="{FF2B5EF4-FFF2-40B4-BE49-F238E27FC236}">
                <a16:creationId xmlns:a16="http://schemas.microsoft.com/office/drawing/2014/main" id="{92739022-4B7C-32D2-42C4-F446902EB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09AC5E-F79D-E8B5-63B7-900912934F99}"/>
              </a:ext>
            </a:extLst>
          </p:cNvPr>
          <p:cNvSpPr txBox="1"/>
          <p:nvPr/>
        </p:nvSpPr>
        <p:spPr>
          <a:xfrm>
            <a:off x="1261048" y="238198"/>
            <a:ext cx="7162028" cy="1016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ea typeface="Calibri"/>
                <a:cs typeface="Calibri"/>
              </a:rPr>
              <a:t>Real-Time Results Dashboard</a:t>
            </a:r>
            <a:endParaRPr lang="en-US" sz="4000" dirty="0" err="1">
              <a:ea typeface="Calibri"/>
              <a:cs typeface="Calibri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  <p:pic>
        <p:nvPicPr>
          <p:cNvPr id="8" name="Picture 7" descr="A close-up of a logo&#10;&#10;AI-generated content may be incorrect.">
            <a:extLst>
              <a:ext uri="{FF2B5EF4-FFF2-40B4-BE49-F238E27FC236}">
                <a16:creationId xmlns:a16="http://schemas.microsoft.com/office/drawing/2014/main" id="{FA6CB44E-8EA1-060B-DF08-C727920B38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04169" y="5422"/>
            <a:ext cx="1343116" cy="11974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CE4995-7CE3-1EA5-17F3-780F5863DE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960" y="1071716"/>
            <a:ext cx="8504905" cy="475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874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752FB7-D2D7-32E0-1473-6F864F624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794" y="-75626"/>
            <a:ext cx="9155205" cy="68467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2045" y="374228"/>
            <a:ext cx="7031922" cy="1133954"/>
          </a:xfrm>
        </p:spPr>
        <p:txBody>
          <a:bodyPr>
            <a:normAutofit fontScale="90000"/>
          </a:bodyPr>
          <a:lstStyle/>
          <a:p>
            <a:r>
              <a:rPr b="1" dirty="0"/>
              <a:t>Module 4 – Turnout &amp; Demographics</a:t>
            </a:r>
            <a:endParaRPr lang="en-US" b="1" dirty="0">
              <a:ea typeface="Calibri"/>
              <a:cs typeface="Calibri"/>
            </a:endParaRPr>
          </a:p>
        </p:txBody>
      </p:sp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DE4528BB-2985-380C-116F-A985DAC41F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15375" y="-218696"/>
            <a:ext cx="1343116" cy="11974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8D957B-377B-B1FA-56AB-1D14BAE372C7}"/>
              </a:ext>
            </a:extLst>
          </p:cNvPr>
          <p:cNvSpPr txBox="1"/>
          <p:nvPr/>
        </p:nvSpPr>
        <p:spPr>
          <a:xfrm>
            <a:off x="1041847" y="2151727"/>
            <a:ext cx="703192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>
                <a:ea typeface="Segoe UI"/>
                <a:cs typeface="Segoe UI"/>
              </a:rPr>
              <a:t>Gender-based turnout trends​.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>
                <a:ea typeface="Segoe UI"/>
                <a:cs typeface="Segoe UI"/>
              </a:rPr>
              <a:t>Gender participation insights​.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>
                <a:ea typeface="Segoe UI"/>
                <a:cs typeface="Segoe UI"/>
              </a:rPr>
              <a:t>Heatmaps &amp; pie charts for demographic analysis.​</a:t>
            </a:r>
            <a:endParaRPr lang="en-US" sz="40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orange and green lines and buildings&#10;&#10;AI-generated content may be incorrect.">
            <a:extLst>
              <a:ext uri="{FF2B5EF4-FFF2-40B4-BE49-F238E27FC236}">
                <a16:creationId xmlns:a16="http://schemas.microsoft.com/office/drawing/2014/main" id="{EE3B4B1E-5955-4182-F7B9-A015DC681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55205" cy="68467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673311-1CBD-1AC2-2970-E18855018A86}"/>
              </a:ext>
            </a:extLst>
          </p:cNvPr>
          <p:cNvSpPr txBox="1"/>
          <p:nvPr/>
        </p:nvSpPr>
        <p:spPr>
          <a:xfrm>
            <a:off x="1117330" y="364166"/>
            <a:ext cx="668355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ea typeface="Calibri"/>
                <a:cs typeface="Calibri"/>
              </a:rPr>
              <a:t>      Turnout &amp; Demographics</a:t>
            </a:r>
            <a:endParaRPr lang="en-US" dirty="0"/>
          </a:p>
        </p:txBody>
      </p:sp>
      <p:pic>
        <p:nvPicPr>
          <p:cNvPr id="2" name="Picture 1" descr="A close-up of a logo&#10;&#10;AI-generated content may be incorrect.">
            <a:extLst>
              <a:ext uri="{FF2B5EF4-FFF2-40B4-BE49-F238E27FC236}">
                <a16:creationId xmlns:a16="http://schemas.microsoft.com/office/drawing/2014/main" id="{2360F686-E0F9-90BA-0184-8B7CCC6A2D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00884" y="-52598"/>
            <a:ext cx="1343116" cy="11974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3B3531-E47D-EB5B-E974-2F28A27BEFA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86" t="1670" r="965" b="1373"/>
          <a:stretch>
            <a:fillRect/>
          </a:stretch>
        </p:blipFill>
        <p:spPr>
          <a:xfrm>
            <a:off x="421733" y="1144840"/>
            <a:ext cx="8300534" cy="464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428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5CE274-E18A-5A70-BFBE-5B687A111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/>
              <a:t>Module 5 – Party &amp; Candidate Performance</a:t>
            </a:r>
            <a:endParaRPr lang="en-US" b="1">
              <a:ea typeface="Calibri"/>
              <a:cs typeface="Calibri"/>
            </a:endParaRPr>
          </a:p>
        </p:txBody>
      </p:sp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E59F7386-5D41-0161-C7B7-7D03387403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04169" y="5422"/>
            <a:ext cx="1343116" cy="11974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28E94D-463D-324D-CF8A-A2D6090121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885" y="1543440"/>
            <a:ext cx="7940842" cy="44607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8D09AB-AB3C-FCE3-2C71-51F6ADE63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/>
              <a:t>Architecture Overview</a:t>
            </a:r>
          </a:p>
        </p:txBody>
      </p:sp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0FCF3872-0E57-21A0-AC74-6CDA9140ED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04169" y="5422"/>
            <a:ext cx="1343116" cy="11974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C1546DA-EE9E-2AA3-9F88-176B3A4D9DFD}"/>
              </a:ext>
            </a:extLst>
          </p:cNvPr>
          <p:cNvSpPr txBox="1"/>
          <p:nvPr/>
        </p:nvSpPr>
        <p:spPr>
          <a:xfrm>
            <a:off x="765294" y="2151727"/>
            <a:ext cx="761341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ea typeface="Segoe UI"/>
                <a:cs typeface="Segoe UI"/>
              </a:rPr>
              <a:t>Data Ingestion Layer – CSVs​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ea typeface="Segoe UI"/>
                <a:cs typeface="Segoe UI"/>
              </a:rPr>
              <a:t>Transformation Layer – Power Query​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ea typeface="Segoe UI"/>
                <a:cs typeface="Segoe UI"/>
              </a:rPr>
              <a:t>Semantic Model – Star Schema​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ea typeface="Segoe UI"/>
                <a:cs typeface="Segoe UI"/>
              </a:rPr>
              <a:t>Visualization Layer – Power BI Dashboards​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ea typeface="Segoe UI"/>
                <a:cs typeface="Segoe UI"/>
              </a:rPr>
              <a:t>Publishing via Power BI Service​.</a:t>
            </a:r>
            <a:endParaRPr lang="en-IN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8C0109-A162-714F-F617-246326C3B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/>
              <a:t>Impact &amp; Applications</a:t>
            </a:r>
            <a:endParaRPr lang="en-US" sz="4000" b="1" dirty="0">
              <a:ea typeface="Calibri"/>
              <a:cs typeface="Calibri"/>
            </a:endParaRPr>
          </a:p>
        </p:txBody>
      </p:sp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05C590C9-79F1-4D4E-F5DB-B3A0BF01F4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04169" y="5422"/>
            <a:ext cx="1343116" cy="11974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99FA39-3CF0-05A3-724E-BBECC5C31170}"/>
              </a:ext>
            </a:extLst>
          </p:cNvPr>
          <p:cNvSpPr txBox="1"/>
          <p:nvPr/>
        </p:nvSpPr>
        <p:spPr>
          <a:xfrm>
            <a:off x="413554" y="2151727"/>
            <a:ext cx="831689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ea typeface="Segoe UI"/>
                <a:cs typeface="Segoe UI"/>
              </a:rPr>
              <a:t>Supports journalism &amp; political reporting​.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ea typeface="Segoe UI"/>
                <a:cs typeface="Segoe UI"/>
              </a:rPr>
              <a:t>Enables fast decision-making during elections.​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ea typeface="Segoe UI"/>
                <a:cs typeface="Segoe UI"/>
              </a:rPr>
              <a:t>Identifies long-term political trends​.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ea typeface="Segoe UI"/>
                <a:cs typeface="Segoe UI"/>
              </a:rPr>
              <a:t>Compares vote-to-seat conversion efficiency​.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ea typeface="Segoe UI"/>
                <a:cs typeface="Segoe UI"/>
              </a:rPr>
              <a:t>Adaptable for future elections​.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457</Words>
  <Application>Microsoft Office PowerPoint</Application>
  <PresentationFormat>On-screen Show (4:3)</PresentationFormat>
  <Paragraphs>58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Segoe UI</vt:lpstr>
      <vt:lpstr>Wingdings</vt:lpstr>
      <vt:lpstr>Office Theme</vt:lpstr>
      <vt:lpstr>Electviz: Election Data Visualization for Media</vt:lpstr>
      <vt:lpstr>Problem Statement</vt:lpstr>
      <vt:lpstr>Project Objectives</vt:lpstr>
      <vt:lpstr>Key Outcomes</vt:lpstr>
      <vt:lpstr>Module 1 – Data Integration &amp; Modeling</vt:lpstr>
      <vt:lpstr>PowerPoint Presentation</vt:lpstr>
      <vt:lpstr>Module 2 – Historical Trends Dashboard</vt:lpstr>
      <vt:lpstr>PowerPoint Presentation</vt:lpstr>
      <vt:lpstr>Module 3 – Real-Time Results Dashboard</vt:lpstr>
      <vt:lpstr>PowerPoint Presentation</vt:lpstr>
      <vt:lpstr>Module 4 – Turnout &amp; Demographics</vt:lpstr>
      <vt:lpstr>PowerPoint Presentation</vt:lpstr>
      <vt:lpstr>Module 5 – Party &amp; Candidate Performance</vt:lpstr>
      <vt:lpstr>Architecture Overview</vt:lpstr>
      <vt:lpstr>Impact &amp; Applications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Payal Shinde</dc:creator>
  <cp:keywords/>
  <dc:description>generated using python-pptx</dc:description>
  <cp:lastModifiedBy>Mohammad Saad Langde</cp:lastModifiedBy>
  <cp:revision>113</cp:revision>
  <dcterms:created xsi:type="dcterms:W3CDTF">2013-01-27T09:14:16Z</dcterms:created>
  <dcterms:modified xsi:type="dcterms:W3CDTF">2026-03-04T08:11:44Z</dcterms:modified>
  <cp:category/>
</cp:coreProperties>
</file>